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91440"/>
            <a:ext cx="2176272" cy="9621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37744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1F3864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42415"/>
            <a:ext cx="9326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900" b="1" i="0">
                <a:solidFill>
                  <a:srgbClr val="000000"/>
                </a:solidFill>
                <a:latin typeface="Times New Roman"/>
              </a:rPr>
              <a:t>TITLE PAGE</a:t>
            </a:r>
          </a:p>
        </p:txBody>
      </p:sp>
      <p:pic>
        <p:nvPicPr>
          <p:cNvPr id="6" name="Picture 5" descr="vaaney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874519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965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VaanEye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44805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2E74B5"/>
                </a:solidFill>
                <a:latin typeface="Nirmala UI"/>
              </a:rPr>
              <a:t>வான்கண்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75488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606060"/>
                </a:solidFill>
                <a:latin typeface="Arial"/>
              </a:rPr>
              <a:t>THE EYE IN THE SKY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Problem Statement ID – </a:t>
            </a:r>
            <a:r>
              <a:rPr sz="1500" b="1">
                <a:solidFill>
                  <a:srgbClr val="1F3864"/>
                </a:solidFill>
                <a:latin typeface="Arial"/>
              </a:rPr>
              <a:t>SIH26209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Problem Statement Title- </a:t>
            </a:r>
            <a:r>
              <a:rPr sz="1500" b="1">
                <a:solidFill>
                  <a:srgbClr val="1F3864"/>
                </a:solidFill>
                <a:latin typeface="Arial"/>
              </a:rPr>
              <a:t>Student Innovation — Space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Theme- </a:t>
            </a:r>
            <a:r>
              <a:rPr sz="1500" b="1">
                <a:solidFill>
                  <a:srgbClr val="1F3864"/>
                </a:solidFill>
                <a:latin typeface="Arial"/>
              </a:rPr>
              <a:t>Space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PS Category- </a:t>
            </a:r>
            <a:r>
              <a:rPr sz="1500" b="1">
                <a:solidFill>
                  <a:srgbClr val="1F3864"/>
                </a:solidFill>
                <a:latin typeface="Arial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Team ID- </a:t>
            </a:r>
            <a:r>
              <a:rPr sz="1500" b="1">
                <a:solidFill>
                  <a:srgbClr val="1F3864"/>
                </a:solidFill>
                <a:latin typeface="Arial"/>
              </a:rPr>
              <a:t>&lt; fill after portal registration 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Team Name (Registered on portal)- </a:t>
            </a:r>
            <a:r>
              <a:rPr sz="1500" b="1">
                <a:solidFill>
                  <a:srgbClr val="1F3864"/>
                </a:solidFill>
                <a:latin typeface="Arial"/>
              </a:rPr>
              <a:t>VaanEye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91440"/>
            <a:ext cx="2176272" cy="9621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37744" y="91440"/>
            <a:ext cx="1389888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vaaney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3736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7432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Vaan</a:t>
            </a:r>
          </a:p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1168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100" b="1" i="0">
                <a:solidFill>
                  <a:srgbClr val="000000"/>
                </a:solidFill>
                <a:latin typeface="Times New Roman"/>
              </a:rPr>
              <a:t>IDEA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Proposed Solution (Describe your Idea/Solution/Prototype)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5671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Detailed explanation of the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80744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How it addresses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477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Innovation and uniqueness of the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80" y="657453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745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83664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F4E79"/>
                </a:solidFill>
                <a:latin typeface="Arial"/>
              </a:rPr>
              <a:t>DETAILED EXPLANATION — six domains on one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84831"/>
            <a:ext cx="35661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920" y="2084831"/>
            <a:ext cx="41148" cy="658368"/>
          </a:xfrm>
          <a:prstGeom prst="rect">
            <a:avLst/>
          </a:prstGeom>
          <a:solidFill>
            <a:srgbClr val="B3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2148839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B32A36"/>
                </a:solidFill>
                <a:latin typeface="Arial"/>
              </a:rPr>
              <a:t>Flood &amp; Fire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33172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SAR sees through monsoon cloud; thermal SWIR pinpoints hotspots and sends the exact GPS grid.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2084831"/>
            <a:ext cx="35661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51959" y="2084831"/>
            <a:ext cx="41148" cy="658368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34840" y="2148839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7A4C"/>
                </a:solidFill>
                <a:latin typeface="Arial"/>
              </a:rPr>
              <a:t>Crop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33172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Weekly NDVI vigour score, SAR soil moisture for irrigation timing, early pest-stress signals.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084831"/>
            <a:ext cx="35661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01000" y="2084831"/>
            <a:ext cx="41148" cy="658368"/>
          </a:xfrm>
          <a:prstGeom prst="rect">
            <a:avLst/>
          </a:prstGeom>
          <a:solidFill>
            <a:srgbClr val="0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83879" y="2148839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E6B75"/>
                </a:solidFill>
                <a:latin typeface="Arial"/>
              </a:rPr>
              <a:t>Sea &amp; Fishing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3172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Fishing zones from sea temperature and chlorophyll; offline alarm before the maritime border.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816352"/>
            <a:ext cx="35661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2920" y="2816352"/>
            <a:ext cx="41148" cy="658368"/>
          </a:xfrm>
          <a:prstGeom prst="rect">
            <a:avLst/>
          </a:prstGeom>
          <a:solidFill>
            <a:srgbClr val="A8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28803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A86A0A"/>
                </a:solidFill>
                <a:latin typeface="Arial"/>
              </a:rPr>
              <a:t>Heat &amp; 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06324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Land Surface Temperature drives street-level heatwave warnings, rain nowcast and AQI.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59" y="2816352"/>
            <a:ext cx="35661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51959" y="2816352"/>
            <a:ext cx="41148" cy="658368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B3A8E"/>
                </a:solidFill>
                <a:latin typeface="Arial"/>
              </a:rPr>
              <a:t>Land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06324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Yesterday-vs-today pixel differencing exposes illegal construction and lake encroachment.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2816352"/>
            <a:ext cx="356616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001000" y="2816352"/>
            <a:ext cx="41148" cy="65836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183879" y="28803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E74B5"/>
                </a:solidFill>
                <a:latin typeface="Arial"/>
              </a:rPr>
              <a:t>Environment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06324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Oil spills, industrial effluent and deforestation, auto-escalated to the right authority.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602736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F4E79"/>
                </a:solidFill>
                <a:latin typeface="Arial"/>
              </a:rPr>
              <a:t>HOW IT ADDRESSES THE PROBLEM — how one alert is born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3803904"/>
            <a:ext cx="11201400" cy="841248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58368" y="3895344"/>
            <a:ext cx="190195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22376" y="3950208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Satellite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4142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ISRO / ESA / NASA</a:t>
            </a:r>
          </a:p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raw open imagery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606039" y="4151376"/>
            <a:ext cx="192024" cy="137160"/>
          </a:xfrm>
          <a:prstGeom prst="rightArrow">
            <a:avLst/>
          </a:prstGeom>
          <a:solidFill>
            <a:srgbClr val="9DB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852928" y="3895344"/>
            <a:ext cx="190195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916936" y="3950208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Analyse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16936" y="4142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NDVI · SAR · thermal</a:t>
            </a:r>
          </a:p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AI change detection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800600" y="4151376"/>
            <a:ext cx="192024" cy="137160"/>
          </a:xfrm>
          <a:prstGeom prst="rightArrow">
            <a:avLst/>
          </a:prstGeom>
          <a:solidFill>
            <a:srgbClr val="9DB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5047488" y="3895344"/>
            <a:ext cx="190195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11496" y="3950208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Match your land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1496" y="4142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PostGIS finds YOUR field</a:t>
            </a:r>
          </a:p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inside the danger zone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995159" y="4151376"/>
            <a:ext cx="192024" cy="137160"/>
          </a:xfrm>
          <a:prstGeom prst="rightArrow">
            <a:avLst/>
          </a:prstGeom>
          <a:solidFill>
            <a:srgbClr val="9DB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7242047" y="3895344"/>
            <a:ext cx="190195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306055" y="3950208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Plain sentence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06055" y="4142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"Fire 12 km away —</a:t>
            </a:r>
          </a:p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move north now"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9189720" y="4151376"/>
            <a:ext cx="192024" cy="137160"/>
          </a:xfrm>
          <a:prstGeom prst="rightArrow">
            <a:avLst/>
          </a:prstGeom>
          <a:solidFill>
            <a:srgbClr val="9DB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9436608" y="3895344"/>
            <a:ext cx="190195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500616" y="3950208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Reaches you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0616" y="4142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App push · SMS ·</a:t>
            </a:r>
          </a:p>
          <a:p>
            <a:pPr algn="ctr">
              <a:lnSpc>
                <a:spcPct val="118000"/>
              </a:lnSpc>
            </a:pPr>
            <a:r>
              <a:rPr sz="780" b="0" i="0">
                <a:solidFill>
                  <a:srgbClr val="2B2B2B"/>
                </a:solidFill>
                <a:latin typeface="Arial"/>
              </a:rPr>
              <a:t>Tamil voice call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4736592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F4E79"/>
                </a:solidFill>
                <a:latin typeface="Arial"/>
              </a:rPr>
              <a:t>INNOVATION AND UNIQUENESS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4937760"/>
            <a:ext cx="3566160" cy="896112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502920" y="4937760"/>
            <a:ext cx="3566160" cy="36576"/>
          </a:xfrm>
          <a:prstGeom prst="rect">
            <a:avLst/>
          </a:prstGeom>
          <a:solidFill>
            <a:srgbClr val="A8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85800" y="5029200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A86A0A"/>
                </a:solidFill>
                <a:latin typeface="Arial"/>
              </a:rPr>
              <a:t>₹0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28216" y="506577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Zero data cost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303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We launch no satellite. Public feeds are consumed through open APIs, so the core map stays free for the citizen forever.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51959" y="4937760"/>
            <a:ext cx="3566160" cy="896112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4251959" y="4937760"/>
            <a:ext cx="3566160" cy="36576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434840" y="5029200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7A4C"/>
                </a:solidFill>
                <a:latin typeface="Arial"/>
              </a:rPr>
              <a:t>100%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7255" y="506577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Reaches 2G phones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4840" y="5303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Every rival needs a smartphone and 4G. Our IVR and SMS path reaches the rural majority they structurally cannot serve.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01000" y="4937760"/>
            <a:ext cx="3566160" cy="896112"/>
          </a:xfrm>
          <a:prstGeom prst="roundRect">
            <a:avLst>
              <a:gd name="adj" fmla="val 8000"/>
            </a:avLst>
          </a:prstGeom>
          <a:solidFill>
            <a:srgbClr val="F2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8001000" y="4937760"/>
            <a:ext cx="3566160" cy="3657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183879" y="5029200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5B3A8E"/>
                </a:solidFill>
                <a:latin typeface="Arial"/>
              </a:rPr>
              <a:t>6 →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6296" y="506577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One window, not ten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79" y="5303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2B2B2B"/>
                </a:solidFill>
                <a:latin typeface="Arial"/>
              </a:rPr>
              <a:t>Ten disconnected agency portals collapse into one dashboard answering with a single plain Tamil sentence.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5925312"/>
            <a:ext cx="11201400" cy="384048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94944" y="6016752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19" b="1">
                <a:solidFill>
                  <a:srgbClr val="1A1A1A"/>
                </a:solidFill>
                <a:latin typeface="Arial"/>
              </a:rPr>
              <a:t>Working prototype today:  </a:t>
            </a:r>
            <a:r>
              <a:rPr sz="919" b="0">
                <a:solidFill>
                  <a:srgbClr val="2B2B2B"/>
                </a:solidFill>
                <a:latin typeface="Arial"/>
              </a:rPr>
              <a:t>live 3D Earth tracking 7,906 real satellites from live TLEs — verified to 0.3 km against independent ISS telemetry — plus full bilingual onboarding and the six-pillar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91440"/>
            <a:ext cx="2176272" cy="9621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37744" y="91440"/>
            <a:ext cx="1389888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vaaney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3736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7432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Vaan</a:t>
            </a:r>
          </a:p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1168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100" b="1" i="0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Technologies to be used (e.g. programming languages, frameworks, hardware)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5671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Methodology and process for implementation (Flow Charts/Images/ working prototype)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0" y="657453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745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1 · OPEN SATELLITE DATA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64208"/>
            <a:ext cx="2642616" cy="603504"/>
          </a:xfrm>
          <a:prstGeom prst="roundRect">
            <a:avLst>
              <a:gd name="adj" fmla="val 9000"/>
            </a:avLst>
          </a:prstGeom>
          <a:solidFill>
            <a:srgbClr val="F3F7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1719072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1F4E79"/>
                </a:solidFill>
                <a:latin typeface="Arial"/>
              </a:rPr>
              <a:t>ISRO Bhuvan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1911095"/>
            <a:ext cx="2496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Cartosat · RISAT SAR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Oceansat · INSAT-3D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728216" y="2286000"/>
            <a:ext cx="192024" cy="155448"/>
          </a:xfrm>
          <a:prstGeom prst="down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328415" y="1664208"/>
            <a:ext cx="2642616" cy="603504"/>
          </a:xfrm>
          <a:prstGeom prst="roundRect">
            <a:avLst>
              <a:gd name="adj" fmla="val 9000"/>
            </a:avLst>
          </a:prstGeom>
          <a:solidFill>
            <a:srgbClr val="F3F7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01568" y="1719072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1F4E79"/>
                </a:solidFill>
                <a:latin typeface="Arial"/>
              </a:rPr>
              <a:t>ESA Copernicus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1911095"/>
            <a:ext cx="2496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Sentinel-1 SAR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Sentinel-2 10 m optical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553712" y="2286000"/>
            <a:ext cx="192024" cy="155448"/>
          </a:xfrm>
          <a:prstGeom prst="down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153912" y="1664208"/>
            <a:ext cx="2642616" cy="603504"/>
          </a:xfrm>
          <a:prstGeom prst="roundRect">
            <a:avLst>
              <a:gd name="adj" fmla="val 9000"/>
            </a:avLst>
          </a:prstGeom>
          <a:solidFill>
            <a:srgbClr val="F3F7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1719072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1F4E79"/>
                </a:solidFill>
                <a:latin typeface="Arial"/>
              </a:rPr>
              <a:t>NASA Earthdata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1911095"/>
            <a:ext cx="2496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Landsat 8/9 · MODIS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VIIRS active fire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7379208" y="2286000"/>
            <a:ext cx="192024" cy="155448"/>
          </a:xfrm>
          <a:prstGeom prst="down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979408" y="1664208"/>
            <a:ext cx="2642616" cy="603504"/>
          </a:xfrm>
          <a:prstGeom prst="roundRect">
            <a:avLst>
              <a:gd name="adj" fmla="val 9000"/>
            </a:avLst>
          </a:prstGeom>
          <a:solidFill>
            <a:srgbClr val="F3F7FC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0" y="1719072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1" i="0">
                <a:solidFill>
                  <a:srgbClr val="1F4E79"/>
                </a:solidFill>
                <a:latin typeface="Arial"/>
              </a:rPr>
              <a:t>INCOIS / IMD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911095"/>
            <a:ext cx="2496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Fishing zone advisory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Ocean state forecast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0204704" y="2286000"/>
            <a:ext cx="192024" cy="155448"/>
          </a:xfrm>
          <a:prstGeom prst="down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" y="2487168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2 · GEOSPATIAL PROCESSING ENGINE  ·  Python workers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670048"/>
            <a:ext cx="11201400" cy="969264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58368" y="2761488"/>
            <a:ext cx="190195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499616" y="2807208"/>
            <a:ext cx="219456" cy="2194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499616" y="283464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054096"/>
            <a:ext cx="1773936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A1A1A"/>
                </a:solidFill>
                <a:latin typeface="Arial"/>
              </a:rPr>
              <a:t>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227832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GDAL · Rasterio</a:t>
            </a:r>
          </a:p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Fiona · cloud mask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606039" y="3054096"/>
            <a:ext cx="182880" cy="137160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852928" y="2761488"/>
            <a:ext cx="190195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694176" y="2807208"/>
            <a:ext cx="219456" cy="2194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694176" y="283464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6936" y="3054096"/>
            <a:ext cx="1773936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A1A1A"/>
                </a:solidFill>
                <a:latin typeface="Arial"/>
              </a:rPr>
              <a:t>Index maths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6936" y="3227832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NumPy · SciPy</a:t>
            </a:r>
          </a:p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NDVI / NDWI / LST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800600" y="3054096"/>
            <a:ext cx="182880" cy="137160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047488" y="2761488"/>
            <a:ext cx="190195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5888736" y="2807208"/>
            <a:ext cx="219456" cy="2194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888736" y="283464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11496" y="3054096"/>
            <a:ext cx="1773936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A1A1A"/>
                </a:solidFill>
                <a:latin typeface="Arial"/>
              </a:rPr>
              <a:t>AI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1496" y="3227832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PyTorch CNN on SWIR</a:t>
            </a:r>
          </a:p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OpenCV temporal diff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6995159" y="3054096"/>
            <a:ext cx="182880" cy="137160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7242047" y="2761488"/>
            <a:ext cx="190195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083296" y="2807208"/>
            <a:ext cx="219456" cy="2194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083296" y="283464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6055" y="3054096"/>
            <a:ext cx="1773936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A1A1A"/>
                </a:solidFill>
                <a:latin typeface="Arial"/>
              </a:rPr>
              <a:t>Spatial match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06055" y="3227832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PostGIS R-Tree</a:t>
            </a:r>
          </a:p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polygon intersection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9189720" y="3054096"/>
            <a:ext cx="182880" cy="137160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9436608" y="2761488"/>
            <a:ext cx="190195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0277856" y="2807208"/>
            <a:ext cx="219456" cy="21945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277856" y="283464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0616" y="3054096"/>
            <a:ext cx="1773936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A1A1A"/>
                </a:solidFill>
                <a:latin typeface="Arial"/>
              </a:rPr>
              <a:t>Rule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0616" y="3227832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Threshold + two-sensor</a:t>
            </a:r>
          </a:p>
          <a:p>
            <a:pPr algn="ctr">
              <a:lnSpc>
                <a:spcPct val="118000"/>
              </a:lnSpc>
            </a:pPr>
            <a:r>
              <a:rPr sz="770" b="0" i="0">
                <a:solidFill>
                  <a:srgbClr val="2B2B2B"/>
                </a:solidFill>
                <a:latin typeface="Arial"/>
              </a:rPr>
              <a:t>confirmation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3694176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3 · DUAL DATABASE — each does what the other cannot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3877056"/>
            <a:ext cx="5532120" cy="969264"/>
          </a:xfrm>
          <a:prstGeom prst="roundRect">
            <a:avLst>
              <a:gd name="adj" fmla="val 6000"/>
            </a:avLst>
          </a:prstGeom>
          <a:solidFill>
            <a:srgbClr val="EAF6EF"/>
          </a:solidFill>
          <a:ln w="9525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94944" y="395020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E7A4C"/>
                </a:solidFill>
                <a:latin typeface="Arial"/>
              </a:rPr>
              <a:t>SUPABASE  ·  the brain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" y="4160520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PostgreSQL + PostGIS</a:t>
            </a:r>
            <a:r>
              <a:rPr sz="840" b="0">
                <a:solidFill>
                  <a:srgbClr val="2B2B2B"/>
                </a:solidFill>
                <a:latin typeface="Arial"/>
              </a:rPr>
              <a:t> — an R-Tree spatial index answers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840" b="0">
                <a:solidFill>
                  <a:srgbClr val="2B2B2B"/>
                </a:solidFill>
                <a:latin typeface="Arial"/>
              </a:rPr>
              <a:t>"is this farmer's polygon inside today's flood mask?" in under a millisecond.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840" b="0">
                <a:solidFill>
                  <a:srgbClr val="2B2B2B"/>
                </a:solidFill>
                <a:latin typeface="Arial"/>
              </a:rPr>
              <a:t>Holds land boundaries, sea zones, alert history, auth and analytics.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72200" y="3877056"/>
            <a:ext cx="5532120" cy="969264"/>
          </a:xfrm>
          <a:prstGeom prst="roundRect">
            <a:avLst>
              <a:gd name="adj" fmla="val 6000"/>
            </a:avLst>
          </a:prstGeom>
          <a:solidFill>
            <a:srgbClr val="FDF4E3"/>
          </a:solidFill>
          <a:ln w="9525">
            <a:solidFill>
              <a:srgbClr val="A8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364224" y="395020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A86A0A"/>
                </a:solidFill>
                <a:latin typeface="Arial"/>
              </a:rPr>
              <a:t>FIREBASE  ·  the mouth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160520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840" b="1">
                <a:solidFill>
                  <a:srgbClr val="1A1A1A"/>
                </a:solidFill>
                <a:latin typeface="Arial"/>
              </a:rPr>
              <a:t>FCM push + offline cache</a:t>
            </a:r>
            <a:r>
              <a:rPr sz="840" b="0">
                <a:solidFill>
                  <a:srgbClr val="2B2B2B"/>
                </a:solidFill>
                <a:latin typeface="Arial"/>
              </a:rPr>
              <a:t> — Supabase Realtime only reaches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840" b="0">
                <a:solidFill>
                  <a:srgbClr val="2B2B2B"/>
                </a:solidFill>
                <a:latin typeface="Arial"/>
              </a:rPr>
              <a:t>an OPEN app. Only FCM wakes a CLOSED app at 2 a.m. when fire starts.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840" b="0">
                <a:solidFill>
                  <a:srgbClr val="2B2B2B"/>
                </a:solidFill>
                <a:latin typeface="Arial"/>
              </a:rPr>
              <a:t>Also carries offline sync at sea, where there is no signal at all.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4901184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4 · APPLICATION STACK &amp; LAST-MILE DELIVERY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084064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02920" y="5084064"/>
            <a:ext cx="2084831" cy="3657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76072" y="5157216"/>
            <a:ext cx="193852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2E74B5"/>
                </a:solidFill>
                <a:latin typeface="Arial"/>
              </a:rPr>
              <a:t>Frontend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72" y="5340096"/>
            <a:ext cx="19385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Next.js 14 · React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Mapbox GL · Vercel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61488" y="5084064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2761488" y="5084064"/>
            <a:ext cx="2084831" cy="3657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2834640" y="5157216"/>
            <a:ext cx="193852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5B3A8E"/>
                </a:solidFill>
                <a:latin typeface="Arial"/>
              </a:rPr>
              <a:t>Backend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34640" y="5340096"/>
            <a:ext cx="19385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Node.js runtime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Express API broker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0056" y="5084064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5020056" y="5084064"/>
            <a:ext cx="2084831" cy="36576"/>
          </a:xfrm>
          <a:prstGeom prst="rect">
            <a:avLst/>
          </a:prstGeom>
          <a:solidFill>
            <a:srgbClr val="0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5093208" y="5157216"/>
            <a:ext cx="193852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0E6B75"/>
                </a:solidFill>
                <a:latin typeface="Arial"/>
              </a:rPr>
              <a:t>Realtime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93208" y="5340096"/>
            <a:ext cx="19385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Supabase channels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Firebase FCM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78624" y="5084064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7278624" y="5084064"/>
            <a:ext cx="2084831" cy="36576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7351775" y="5157216"/>
            <a:ext cx="193852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1E7A4C"/>
                </a:solidFill>
                <a:latin typeface="Arial"/>
              </a:rPr>
              <a:t>Smartphone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51775" y="5340096"/>
            <a:ext cx="19385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Push notification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interactive map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37192" y="5084064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9537192" y="5084064"/>
            <a:ext cx="2084831" cy="36576"/>
          </a:xfrm>
          <a:prstGeom prst="rect">
            <a:avLst/>
          </a:prstGeom>
          <a:solidFill>
            <a:srgbClr val="A8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9610344" y="5157216"/>
            <a:ext cx="193852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30" b="1" i="0">
                <a:solidFill>
                  <a:srgbClr val="A86A0A"/>
                </a:solidFill>
                <a:latin typeface="Arial"/>
              </a:rPr>
              <a:t>2G phone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10344" y="5340096"/>
            <a:ext cx="19385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SMS + IVR Tamil</a:t>
            </a:r>
          </a:p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voice broadcast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02920" y="585216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694944" y="592531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B2B2B"/>
                </a:solidFill>
                <a:latin typeface="Arial"/>
              </a:rPr>
              <a:t>All-weather resilience:  when monsoon cloud blinds optical sensors the pipeline auto-switches to Sentinel-1 C-band SAR, fused with INSAT-3D thermal refreshing every 15 minutes over India — so an alert never fails for want of a clear sky.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91440"/>
            <a:ext cx="2176272" cy="9621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37744" y="91440"/>
            <a:ext cx="1389888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vaaney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3736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7432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Vaan</a:t>
            </a:r>
          </a:p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1168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100" b="1" i="0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Analysis of the feasibility of 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5671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Potential challenges and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80744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Strategies for overcoming these challenges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40480" y="657453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745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82496"/>
            <a:ext cx="5532120" cy="256032"/>
          </a:xfrm>
          <a:prstGeom prst="roundRect">
            <a:avLst>
              <a:gd name="adj" fmla="val 1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656" y="1723644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E7A4C"/>
                </a:solidFill>
                <a:latin typeface="Arial"/>
              </a:rPr>
              <a:t>ANALYSIS OF FEASIBILITY  ·  can it be built today?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11680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920" y="2011680"/>
            <a:ext cx="41148" cy="621792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6656" y="2121408"/>
            <a:ext cx="210312" cy="210312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56" y="2144268"/>
            <a:ext cx="2103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207568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Technology is already in orbit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2276856"/>
            <a:ext cx="4919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We build and launch nothing. Multi-billion-dollar public satellites are consumed through open REST APIs that are live right now.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06624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2706624"/>
            <a:ext cx="41148" cy="621792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76656" y="2816352"/>
            <a:ext cx="210312" cy="210312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2839212"/>
            <a:ext cx="2103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2770632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Skills are mainstream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2971800"/>
            <a:ext cx="4919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Next.js + Express + Node is a standard stack, and the Python geospatial libraries (GDAL, Rasterio, PyTorch) are mature and documented.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01568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2920" y="3401568"/>
            <a:ext cx="41148" cy="621792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76656" y="3511296"/>
            <a:ext cx="210312" cy="210312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6656" y="3534156"/>
            <a:ext cx="2103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3465575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Zero capital expenditure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3666744"/>
            <a:ext cx="4919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Only open-source packages and free tiers — Vercel plus Render carry the pilot. No licence fees and no hardware to purchase.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096511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02920" y="4096511"/>
            <a:ext cx="41148" cy="621792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76656" y="4206240"/>
            <a:ext cx="210312" cy="210312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6656" y="422909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" y="416052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Legally clear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4361688"/>
            <a:ext cx="4919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Fully within the National Geospatial Policy 2021: we parse only civilian-grade public telemetry released for public good.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82803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1F4E79"/>
                </a:solidFill>
                <a:latin typeface="Arial"/>
              </a:rPr>
              <a:t>CHALLENGES / RISKS  →  STRATEGIES TO OVERCOME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010912"/>
            <a:ext cx="5532120" cy="950976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5093208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• Cloud blocks optical imagery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7248" y="5093208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E74B5"/>
                </a:solidFill>
                <a:latin typeface="Arial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46704" y="5093208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E7A4C"/>
                </a:solidFill>
                <a:latin typeface="Arial"/>
              </a:rPr>
              <a:t>auto-fallback to SAR radar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266944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• Satellite revisit time gaps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7248" y="526694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E74B5"/>
                </a:solidFill>
                <a:latin typeface="Arial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6704" y="5266944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E7A4C"/>
                </a:solidFill>
                <a:latin typeface="Arial"/>
              </a:rPr>
              <a:t>fuse geostationary INSAT-3D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440680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• Villages with no internet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27248" y="544068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E74B5"/>
                </a:solidFill>
                <a:latin typeface="Arial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46704" y="5440680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E7A4C"/>
                </a:solidFill>
                <a:latin typeface="Arial"/>
              </a:rPr>
              <a:t>SMS + IVR voice pathway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614416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• False alarms erode trust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27248" y="5614416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E74B5"/>
                </a:solidFill>
                <a:latin typeface="Arial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6704" y="5614416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E7A4C"/>
                </a:solidFill>
                <a:latin typeface="Arial"/>
              </a:rPr>
              <a:t>two-sensor confirm before dispatch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788152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• Scaling compute cost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27248" y="5788152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E74B5"/>
                </a:solidFill>
                <a:latin typeface="Arial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46704" y="5788152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E7A4C"/>
                </a:solidFill>
                <a:latin typeface="Arial"/>
              </a:rPr>
              <a:t>tile caching + district batching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200" y="1682496"/>
            <a:ext cx="5532120" cy="256032"/>
          </a:xfrm>
          <a:prstGeom prst="roundRect">
            <a:avLst>
              <a:gd name="adj" fmla="val 18000"/>
            </a:avLst>
          </a:prstGeom>
          <a:solidFill>
            <a:srgbClr val="F2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345936" y="1723644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5B3A8E"/>
                </a:solidFill>
                <a:latin typeface="Arial"/>
              </a:rPr>
              <a:t>VIABILITY  ·  will it sustain long-term?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2011680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172200" y="2011680"/>
            <a:ext cx="41148" cy="62179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364224" y="207568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The need repeats every single year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64224" y="2276856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Monsoons, crop cycles and fishing seasons return annually, so retention is structural — not a one-time utility people uninstall.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2706624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172200" y="2706624"/>
            <a:ext cx="41148" cy="621792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364224" y="277063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Free core, paid precision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4224" y="2971800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Map and public alerts stay free forever. ₹15–20/month buys custom-drawn asset boundaries and daily automated monitoring.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3401568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6172200" y="3401568"/>
            <a:ext cx="41148" cy="621792"/>
          </a:xfrm>
          <a:prstGeom prst="rect">
            <a:avLst/>
          </a:prstGeom>
          <a:solidFill>
            <a:srgbClr val="0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364224" y="3465575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Government contracts (B2G)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4224" y="3666744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State Disaster cells and municipalities license sprawl timelines and encroachment evidence on multi-year institutional terms.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72200" y="4096511"/>
            <a:ext cx="55321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172200" y="4096511"/>
            <a:ext cx="41148" cy="621792"/>
          </a:xfrm>
          <a:prstGeom prst="rect">
            <a:avLst/>
          </a:prstGeom>
          <a:solidFill>
            <a:srgbClr val="A8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364224" y="416052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1" i="0">
                <a:solidFill>
                  <a:srgbClr val="1A1A1A"/>
                </a:solidFill>
                <a:latin typeface="Arial"/>
              </a:rPr>
              <a:t>A moat rivals cannot cross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4224" y="4361688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Competitors are smartphone-and-4G only. Our IVR and SMS layer reaches the rural majority they cannot serve at any price.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2200" y="482803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i="0">
                <a:solidFill>
                  <a:srgbClr val="1F4E79"/>
                </a:solidFill>
                <a:latin typeface="Arial"/>
              </a:rPr>
              <a:t>SCALE PATH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5010912"/>
            <a:ext cx="5532120" cy="950976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327648" y="5093208"/>
            <a:ext cx="8412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5B3A8E"/>
                </a:solidFill>
                <a:latin typeface="Arial"/>
              </a:rPr>
              <a:t>Phase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8896" y="5093208"/>
            <a:ext cx="4434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Tamil Nadu pilot — 2 districts, 5,000 users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27648" y="5266944"/>
            <a:ext cx="8412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5B3A8E"/>
                </a:solidFill>
                <a:latin typeface="Arial"/>
              </a:rPr>
              <a:t>Phase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68896" y="5266944"/>
            <a:ext cx="4434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All coastal states — Tamil + 4 languages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27648" y="5440680"/>
            <a:ext cx="8412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5B3A8E"/>
                </a:solidFill>
                <a:latin typeface="Arial"/>
              </a:rPr>
              <a:t>Phase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68896" y="5440680"/>
            <a:ext cx="4434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Pan-India — 12 languages, state DM integration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27648" y="5614416"/>
            <a:ext cx="8412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5B3A8E"/>
                </a:solidFill>
                <a:latin typeface="Arial"/>
              </a:rPr>
              <a:t>Phase 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8896" y="5614416"/>
            <a:ext cx="4434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Open API for panchayats, NGOs, researchers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7648" y="5788152"/>
            <a:ext cx="8412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5B3A8E"/>
                </a:solidFill>
                <a:latin typeface="Arial"/>
              </a:rPr>
              <a:t>Phase 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68896" y="5788152"/>
            <a:ext cx="4434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B2B2B"/>
                </a:solidFill>
                <a:latin typeface="Arial"/>
              </a:rPr>
              <a:t>Institutional B2G licensing at state scale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2920" y="6035040"/>
            <a:ext cx="11201400" cy="329184"/>
          </a:xfrm>
          <a:prstGeom prst="roundRect">
            <a:avLst>
              <a:gd name="adj" fmla="val 14000"/>
            </a:avLst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13232" y="61081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80" b="1">
                <a:solidFill>
                  <a:srgbClr val="1F3864"/>
                </a:solidFill>
                <a:latin typeface="Arial"/>
              </a:rPr>
              <a:t>₹0  </a:t>
            </a:r>
            <a:r>
              <a:rPr sz="880" b="0">
                <a:solidFill>
                  <a:srgbClr val="606060"/>
                </a:solidFill>
                <a:latin typeface="Arial"/>
              </a:rPr>
              <a:t>CapEx to launch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44368" y="61081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80" b="1">
                <a:solidFill>
                  <a:srgbClr val="1F3864"/>
                </a:solidFill>
                <a:latin typeface="Arial"/>
              </a:rPr>
              <a:t>7,906  </a:t>
            </a:r>
            <a:r>
              <a:rPr sz="880" b="0">
                <a:solidFill>
                  <a:srgbClr val="606060"/>
                </a:solidFill>
                <a:latin typeface="Arial"/>
              </a:rPr>
              <a:t>satellites live now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75504" y="61081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80" b="1">
                <a:solidFill>
                  <a:srgbClr val="1F3864"/>
                </a:solidFill>
                <a:latin typeface="Arial"/>
              </a:rPr>
              <a:t>0.3 km  </a:t>
            </a:r>
            <a:r>
              <a:rPr sz="880" b="0">
                <a:solidFill>
                  <a:srgbClr val="606060"/>
                </a:solidFill>
                <a:latin typeface="Arial"/>
              </a:rPr>
              <a:t>verified accuracy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06640" y="61081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80" b="1">
                <a:solidFill>
                  <a:srgbClr val="1F3864"/>
                </a:solidFill>
                <a:latin typeface="Arial"/>
              </a:rPr>
              <a:t>2G  </a:t>
            </a:r>
            <a:r>
              <a:rPr sz="880" b="0">
                <a:solidFill>
                  <a:srgbClr val="606060"/>
                </a:solidFill>
                <a:latin typeface="Arial"/>
              </a:rPr>
              <a:t>minimum device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37776" y="61081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80" b="1">
                <a:solidFill>
                  <a:srgbClr val="1F3864"/>
                </a:solidFill>
                <a:latin typeface="Arial"/>
              </a:rPr>
              <a:t>100%  </a:t>
            </a:r>
            <a:r>
              <a:rPr sz="880" b="0">
                <a:solidFill>
                  <a:srgbClr val="606060"/>
                </a:solidFill>
                <a:latin typeface="Arial"/>
              </a:rPr>
              <a:t>open data, no licences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91440"/>
            <a:ext cx="2176272" cy="9621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37744" y="91440"/>
            <a:ext cx="1389888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vaaney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3736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7432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Vaan</a:t>
            </a:r>
          </a:p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1168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100" b="1" i="0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Potential impact on the 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5671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Benefits of the solution (social, economic, environmental,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0" y="657453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745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82496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1682496"/>
            <a:ext cx="41148" cy="82296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1746504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Farmers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7015" y="1764792"/>
            <a:ext cx="2331720" cy="210312"/>
          </a:xfrm>
          <a:prstGeom prst="roundRect">
            <a:avLst>
              <a:gd name="adj" fmla="val 30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57015" y="179222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1E7A4C"/>
                </a:solidFill>
                <a:latin typeface="Arial"/>
              </a:rPr>
              <a:t>2.5 crore+ farm households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11680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2B2B2B"/>
                </a:solidFill>
                <a:latin typeface="Arial"/>
              </a:rPr>
              <a:t>A weekly crop health score and irrigation timing replace guesswork. Land is walked once with GPS and saved forever. Pest stress is flagged before it spreads field to field.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82496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2200" y="1682496"/>
            <a:ext cx="41148" cy="822960"/>
          </a:xfrm>
          <a:prstGeom prst="rect">
            <a:avLst/>
          </a:prstGeom>
          <a:solidFill>
            <a:srgbClr val="0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80" y="1746504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Fishermen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1764792"/>
            <a:ext cx="2331720" cy="210312"/>
          </a:xfrm>
          <a:prstGeom prst="roundRect">
            <a:avLst>
              <a:gd name="adj" fmla="val 30000"/>
            </a:avLst>
          </a:prstGeom>
          <a:solidFill>
            <a:srgbClr val="E8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26296" y="179222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0E6B75"/>
                </a:solidFill>
                <a:latin typeface="Arial"/>
              </a:rPr>
              <a:t>40 lakh+ coastal livelihoods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11680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2B2B2B"/>
                </a:solidFill>
                <a:latin typeface="Arial"/>
              </a:rPr>
              <a:t>Fishing-zone bearings before departure end wasted fuel on empty trips, and the offline maritime-border alarm prevents arrests and boat seizures far out at sea.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596896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2920" y="2596896"/>
            <a:ext cx="41148" cy="822960"/>
          </a:xfrm>
          <a:prstGeom prst="rect">
            <a:avLst/>
          </a:prstGeom>
          <a:solidFill>
            <a:srgbClr val="A8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2660903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Families &amp; workers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57015" y="2679191"/>
            <a:ext cx="2331720" cy="210312"/>
          </a:xfrm>
          <a:prstGeom prst="roundRect">
            <a:avLst>
              <a:gd name="adj" fmla="val 3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57015" y="270662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A86A0A"/>
                </a:solidFill>
                <a:latin typeface="Arial"/>
              </a:rPr>
              <a:t>Every citizen in the 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926079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2B2B2B"/>
                </a:solidFill>
                <a:latin typeface="Arial"/>
              </a:rPr>
              <a:t>Heatwave, air-quality and flood warnings for their own street — and for their hometown village if they work in another city, so family is never left unwatched.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596896"/>
            <a:ext cx="55321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172200" y="2596896"/>
            <a:ext cx="41148" cy="822960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55080" y="2660903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Authorities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26296" y="2679191"/>
            <a:ext cx="2331720" cy="210312"/>
          </a:xfrm>
          <a:prstGeom prst="roundRect">
            <a:avLst>
              <a:gd name="adj" fmla="val 30000"/>
            </a:avLst>
          </a:prstGeom>
          <a:solidFill>
            <a:srgbClr val="F2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26296" y="270662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5B3A8E"/>
                </a:solidFill>
                <a:latin typeface="Arial"/>
              </a:rPr>
              <a:t>State DM cells, municipalities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926079"/>
            <a:ext cx="5166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40" b="0" i="0">
                <a:solidFill>
                  <a:srgbClr val="2B2B2B"/>
                </a:solidFill>
                <a:latin typeface="Arial"/>
              </a:rPr>
              <a:t>Fire coordinates arrive automatically instead of by phone call. Encroachment gets timestamped satellite evidence. Urban sprawl is tracked year over year.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602736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BENEFITS OF THE SOLUTION  (social, economic, environmental)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803904"/>
            <a:ext cx="3566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02920" y="3803904"/>
            <a:ext cx="3566160" cy="36576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67512" y="3904487"/>
            <a:ext cx="1170432" cy="210312"/>
          </a:xfrm>
          <a:prstGeom prst="roundRect">
            <a:avLst>
              <a:gd name="adj" fmla="val 30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7512" y="3931920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1E7A4C"/>
                </a:solidFill>
                <a:latin typeface="Arial"/>
              </a:rPr>
              <a:t>SOCIAL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417880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A1A1A"/>
                </a:solidFill>
                <a:latin typeface="Arial"/>
              </a:rPr>
              <a:t>Lives protected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4379976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Warnings reach the poorest and least connected first instead of last, and language is never the barrier — the alert speaks Tamil, by voice if needed.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59" y="3803904"/>
            <a:ext cx="3566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251959" y="3803904"/>
            <a:ext cx="3566160" cy="36576"/>
          </a:xfrm>
          <a:prstGeom prst="rect">
            <a:avLst/>
          </a:prstGeom>
          <a:solidFill>
            <a:srgbClr val="A8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4416551" y="3904487"/>
            <a:ext cx="1170432" cy="210312"/>
          </a:xfrm>
          <a:prstGeom prst="roundRect">
            <a:avLst>
              <a:gd name="adj" fmla="val 3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416551" y="3931920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A86A0A"/>
                </a:solidFill>
                <a:latin typeface="Arial"/>
              </a:rPr>
              <a:t>ECONOMIC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1" y="417880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A1A1A"/>
                </a:solidFill>
                <a:latin typeface="Arial"/>
              </a:rPr>
              <a:t>Losses prevented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1" y="4379976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Less crop lost to undetected pest and missed irrigation. Less diesel burnt on empty fishing trips. Fewer boats seized and fewer livelihoods wiped out.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1000" y="3803904"/>
            <a:ext cx="3566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001000" y="3803904"/>
            <a:ext cx="3566160" cy="36576"/>
          </a:xfrm>
          <a:prstGeom prst="rect">
            <a:avLst/>
          </a:prstGeom>
          <a:solidFill>
            <a:srgbClr val="0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165592" y="3904487"/>
            <a:ext cx="1170432" cy="210312"/>
          </a:xfrm>
          <a:prstGeom prst="roundRect">
            <a:avLst>
              <a:gd name="adj" fmla="val 30000"/>
            </a:avLst>
          </a:prstGeom>
          <a:solidFill>
            <a:srgbClr val="E8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65592" y="3931920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1" i="0">
                <a:solidFill>
                  <a:srgbClr val="0E6B75"/>
                </a:solidFill>
                <a:latin typeface="Arial"/>
              </a:rPr>
              <a:t>ENVIRONMENTAL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5592" y="417880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A1A1A"/>
                </a:solidFill>
                <a:latin typeface="Arial"/>
              </a:rPr>
              <a:t>Damage caught early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65592" y="4379976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2B2B2B"/>
                </a:solidFill>
                <a:latin typeface="Arial"/>
              </a:rPr>
              <a:t>Faster fire response means smaller burns. Encroachment, effluent discharge and deforestation become visible and accountable, so they deter.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846320"/>
            <a:ext cx="11155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MEASURABLE OUTCOMES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029200"/>
            <a:ext cx="2642616" cy="713232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02920" y="510235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F3864"/>
                </a:solidFill>
                <a:latin typeface="Arial"/>
              </a:rPr>
              <a:t>&lt; 10 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5385816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from satellite detection to citizen alert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28415" y="5029200"/>
            <a:ext cx="2642616" cy="713232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328415" y="510235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F3864"/>
                </a:solidFill>
                <a:latin typeface="Arial"/>
              </a:rPr>
              <a:t>15 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19856" y="5385816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fire hotspot refresh cycle over India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53912" y="5029200"/>
            <a:ext cx="2642616" cy="713232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153912" y="510235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F3864"/>
                </a:solidFill>
                <a:latin typeface="Arial"/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45351" y="5385816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of the population reachable, 2G included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79408" y="5029200"/>
            <a:ext cx="2642616" cy="713232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979408" y="510235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F3864"/>
                </a:solidFill>
                <a:latin typeface="Arial"/>
              </a:rPr>
              <a:t>₹0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0848" y="5385816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90" b="0" i="0">
                <a:solidFill>
                  <a:srgbClr val="2B2B2B"/>
                </a:solidFill>
                <a:latin typeface="Arial"/>
              </a:rPr>
              <a:t>cost to the citizen, permanently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585216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94944" y="59344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2B2B2B"/>
                </a:solidFill>
                <a:latin typeface="Arial"/>
              </a:rPr>
              <a:t>The real outcome:  a farmer who cannot read a raster and a fisherman with no signal both receive the same intelligence a government analyst gets — as one sentence, in Tamil, on the phone already in their pocket.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91440"/>
            <a:ext cx="2176272" cy="96219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37744" y="91440"/>
            <a:ext cx="1389888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vaaney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3736"/>
            <a:ext cx="62179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7432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Vaan</a:t>
            </a:r>
          </a:p>
          <a:p>
            <a:pPr algn="ctr">
              <a:lnSpc>
                <a:spcPct val="102000"/>
              </a:lnSpc>
            </a:pPr>
            <a:r>
              <a:rPr sz="1000" b="1" i="0">
                <a:solidFill>
                  <a:srgbClr val="1F3864"/>
                </a:solidFill>
                <a:latin typeface="Times New Roman"/>
              </a:rPr>
              <a:t>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1168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100" b="1" i="0">
                <a:solidFill>
                  <a:srgbClr val="000000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06060"/>
                </a:solidFill>
                <a:latin typeface="Arial"/>
              </a:rPr>
              <a:t>•  Details / Links of the reference and research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7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840480" y="6574536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745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OPEN DATA SOURCES WE BUILD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63040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1554480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15087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ISRO Bhuvan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16733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bhuvan.nrsc.gov.in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15544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Cartosat, RISAT SAR, Oceansat, INSAT-3D/3DR thermal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920240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2011680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" y="19659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ESA Copernicus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21305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dataspace.copernicus.eu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Sentinel-1 C-band SAR, Sentinel-2 10 m, 5-day revisit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377440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2468880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24231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NASA Earthdata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25877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earthdata.nasa.gov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24688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Landsat 8/9 archive, MODIS, VIIRS active fire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834640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2926080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6384" y="28803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INCOIS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30449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incois.gov.in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29260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Potential Fishing Zone advisories, ocean state forecast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291840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3383280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6384" y="33375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CelesTrak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35021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celestrak.org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232" y="33832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Live TLE orbital elements powering our 3D tracker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749039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40080" y="3840479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6384" y="379475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Bhashini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39593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bhashini.gov.in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3840479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Government NLP stack for Indian-language alerts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206240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40080" y="4297679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86384" y="425195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Arial"/>
              </a:rPr>
              <a:t>BigEarthNet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44165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2E74B5"/>
                </a:solidFill>
                <a:latin typeface="Arial"/>
              </a:rPr>
              <a:t>bigearth.net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9232" y="4297679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2B2B2B"/>
                </a:solidFill>
                <a:latin typeface="Arial"/>
              </a:rPr>
              <a:t>Sentinel-2 benchmark corpus for land-cover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1280160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EXISTING SOLUTIONS STUDIED  ·  and how VaanEye differs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1463040"/>
            <a:ext cx="553212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172200" y="1463040"/>
            <a:ext cx="41148" cy="58521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364224" y="1499616"/>
            <a:ext cx="51206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1" i="0">
                <a:solidFill>
                  <a:srgbClr val="1A1A1A"/>
                </a:solidFill>
                <a:latin typeface="Arial"/>
              </a:rPr>
              <a:t>BigEarth.net / BigEarthNet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1673352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606060"/>
                </a:solidFill>
                <a:latin typeface="Arial"/>
              </a:rPr>
              <a:t>EU benchmark dataset for Sentinel-2 land-cover classification.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1837944"/>
            <a:ext cx="517550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740" b="1">
                <a:solidFill>
                  <a:srgbClr val="2E74B5"/>
                </a:solidFill>
                <a:latin typeface="Arial"/>
              </a:rPr>
              <a:t>→  </a:t>
            </a:r>
            <a:r>
              <a:rPr sz="740" b="0">
                <a:solidFill>
                  <a:srgbClr val="2B2B2B"/>
                </a:solidFill>
                <a:latin typeface="Arial"/>
              </a:rPr>
              <a:t>A research corpus for scientists. We train on it, then turn the same imagery into a citizen sentence.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2103120"/>
            <a:ext cx="553212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2103120"/>
            <a:ext cx="41148" cy="58521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364224" y="2139696"/>
            <a:ext cx="51206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1" i="0">
                <a:solidFill>
                  <a:srgbClr val="1A1A1A"/>
                </a:solidFill>
                <a:latin typeface="Arial"/>
              </a:rPr>
              <a:t>Google Earth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4224" y="2313432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606060"/>
                </a:solidFill>
                <a:latin typeface="Arial"/>
              </a:rPr>
              <a:t>Planetary-scale raster computation inside a code editor.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64224" y="2478024"/>
            <a:ext cx="517550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740" b="1">
                <a:solidFill>
                  <a:srgbClr val="2E74B5"/>
                </a:solidFill>
                <a:latin typeface="Arial"/>
              </a:rPr>
              <a:t>→  </a:t>
            </a:r>
            <a:r>
              <a:rPr sz="740" b="0">
                <a:solidFill>
                  <a:srgbClr val="2B2B2B"/>
                </a:solidFill>
                <a:latin typeface="Arial"/>
              </a:rPr>
              <a:t>Requires JavaScript and remote-sensing skill. VaanEye requires only a phone number.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2743200"/>
            <a:ext cx="553212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172200" y="2743200"/>
            <a:ext cx="41148" cy="58521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364224" y="2779776"/>
            <a:ext cx="51206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1" i="0">
                <a:solidFill>
                  <a:srgbClr val="1A1A1A"/>
                </a:solidFill>
                <a:latin typeface="Arial"/>
              </a:rPr>
              <a:t>Bhuvan / MOSDAC portals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64224" y="2953512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606060"/>
                </a:solidFill>
                <a:latin typeface="Arial"/>
              </a:rPr>
              <a:t>Official ISRO map viewers and data download portals.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4" y="3118104"/>
            <a:ext cx="517550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740" b="1">
                <a:solidFill>
                  <a:srgbClr val="2E74B5"/>
                </a:solidFill>
                <a:latin typeface="Arial"/>
              </a:rPr>
              <a:t>→  </a:t>
            </a:r>
            <a:r>
              <a:rPr sz="740" b="0">
                <a:solidFill>
                  <a:srgbClr val="2B2B2B"/>
                </a:solidFill>
                <a:latin typeface="Arial"/>
              </a:rPr>
              <a:t>Single-domain viewers, no personal alerting. We fuse six domains and push to the user.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3383280"/>
            <a:ext cx="553212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172200" y="3383280"/>
            <a:ext cx="41148" cy="58521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364224" y="3419856"/>
            <a:ext cx="51206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1" i="0">
                <a:solidFill>
                  <a:srgbClr val="1A1A1A"/>
                </a:solidFill>
                <a:latin typeface="Arial"/>
              </a:rPr>
              <a:t>Sentinel Hub / EO Browser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3593592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606060"/>
                </a:solidFill>
                <a:latin typeface="Arial"/>
              </a:rPr>
              <a:t>Commercial imagery browsing and processing APIs.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64224" y="3758184"/>
            <a:ext cx="517550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740" b="1">
                <a:solidFill>
                  <a:srgbClr val="2E74B5"/>
                </a:solidFill>
                <a:latin typeface="Arial"/>
              </a:rPr>
              <a:t>→  </a:t>
            </a:r>
            <a:r>
              <a:rPr sz="740" b="0">
                <a:solidFill>
                  <a:srgbClr val="2B2B2B"/>
                </a:solidFill>
                <a:latin typeface="Arial"/>
              </a:rPr>
              <a:t>Paid tiers aimed at analysts. We stay free at the point of use for the citizen.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72200" y="4023360"/>
            <a:ext cx="553212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6172200" y="4023360"/>
            <a:ext cx="41148" cy="585216"/>
          </a:xfrm>
          <a:prstGeom prst="rect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364224" y="4059936"/>
            <a:ext cx="51206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1" i="0">
                <a:solidFill>
                  <a:srgbClr val="1A1A1A"/>
                </a:solidFill>
                <a:latin typeface="Arial"/>
              </a:rPr>
              <a:t>mKisan / Meghdoot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4224" y="4233672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606060"/>
                </a:solidFill>
                <a:latin typeface="Arial"/>
              </a:rPr>
              <a:t>Government SMS agro-advisory services.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398264"/>
            <a:ext cx="517550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740" b="1">
                <a:solidFill>
                  <a:srgbClr val="2E74B5"/>
                </a:solidFill>
                <a:latin typeface="Arial"/>
              </a:rPr>
              <a:t>→  </a:t>
            </a:r>
            <a:r>
              <a:rPr sz="740" b="0">
                <a:solidFill>
                  <a:srgbClr val="2B2B2B"/>
                </a:solidFill>
                <a:latin typeface="Arial"/>
              </a:rPr>
              <a:t>Generic advisory text with no live satellite verification of the user's own field.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773168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VALIDATED METHODS &amp; LITERATURE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920" y="4956048"/>
            <a:ext cx="5532120" cy="192024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40080" y="4978908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1F4E79"/>
                </a:solidFill>
                <a:latin typeface="Arial"/>
              </a:rPr>
              <a:t>NDVI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40280" y="4983480"/>
            <a:ext cx="3703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0">
                <a:solidFill>
                  <a:srgbClr val="2B2B2B"/>
                </a:solidFill>
                <a:latin typeface="Arial"/>
              </a:rPr>
              <a:t>Rouse et al., 1974 — (NIR−Red)/(NIR+Red) vegetation vigour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5175504"/>
            <a:ext cx="5532120" cy="192024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40080" y="5198364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1F4E79"/>
                </a:solidFill>
                <a:latin typeface="Arial"/>
              </a:rPr>
              <a:t>NDWI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40280" y="5202936"/>
            <a:ext cx="3703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0">
                <a:solidFill>
                  <a:srgbClr val="2B2B2B"/>
                </a:solidFill>
                <a:latin typeface="Arial"/>
              </a:rPr>
              <a:t>McFeeters, 1996 — surface water delineation for flood staging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5394960"/>
            <a:ext cx="5532120" cy="192024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40080" y="5417820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1F4E79"/>
                </a:solidFill>
                <a:latin typeface="Arial"/>
              </a:rPr>
              <a:t>SGP4 / SDP4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40280" y="5422392"/>
            <a:ext cx="3703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0">
                <a:solidFill>
                  <a:srgbClr val="2B2B2B"/>
                </a:solidFill>
                <a:latin typeface="Arial"/>
              </a:rPr>
              <a:t>Hoots &amp; Roehrich, 1980 — NORAD orbital propagation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614416"/>
            <a:ext cx="5532120" cy="192024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640080" y="5637276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1F4E79"/>
                </a:solidFill>
                <a:latin typeface="Arial"/>
              </a:rPr>
              <a:t>SAR change detection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40280" y="5641848"/>
            <a:ext cx="3703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0">
                <a:solidFill>
                  <a:srgbClr val="2B2B2B"/>
                </a:solidFill>
                <a:latin typeface="Arial"/>
              </a:rPr>
              <a:t>Pixel-wise backscatter differencing for encroachment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2920" y="5833872"/>
            <a:ext cx="5532120" cy="192024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40080" y="5856732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1F4E79"/>
                </a:solidFill>
                <a:latin typeface="Arial"/>
              </a:rPr>
              <a:t>PFZ methodology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40280" y="5861304"/>
            <a:ext cx="3703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0">
                <a:solidFill>
                  <a:srgbClr val="2B2B2B"/>
                </a:solidFill>
                <a:latin typeface="Arial"/>
              </a:rPr>
              <a:t>INCOIS SST + chlorophyll convergence advisory model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72200" y="4773168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1" i="0">
                <a:solidFill>
                  <a:srgbClr val="1F4E79"/>
                </a:solidFill>
                <a:latin typeface="Arial"/>
              </a:rPr>
              <a:t>SIH 2026 SPACE-TECH CONTEXT  &amp;  PROTOTYPE STATUS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72200" y="4956048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6327648" y="5056632"/>
            <a:ext cx="192024" cy="1920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327648" y="5079492"/>
            <a:ext cx="19202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01968" y="4992624"/>
            <a:ext cx="49377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1A1A1A"/>
                </a:solidFill>
                <a:latin typeface="Arial"/>
              </a:rPr>
              <a:t>Related SIH 2026 PS studied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01968" y="5157216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720" b="0" i="0">
                <a:solidFill>
                  <a:srgbClr val="2B2B2B"/>
                </a:solidFill>
                <a:latin typeface="Arial"/>
              </a:rPr>
              <a:t>SIH26227 multi-temporal change analysis · SIH26192 flash-flood prediction · SIH26191 hazard red zones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72200" y="5422392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6327648" y="5522976"/>
            <a:ext cx="192024" cy="1920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327648" y="5545836"/>
            <a:ext cx="19202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01968" y="5458968"/>
            <a:ext cx="49377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1A1A1A"/>
                </a:solidFill>
                <a:latin typeface="Arial"/>
              </a:rPr>
              <a:t>Live 3D Earth prototype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01968" y="5623559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720" b="0" i="0">
                <a:solidFill>
                  <a:srgbClr val="2B2B2B"/>
                </a:solidFill>
                <a:latin typeface="Arial"/>
              </a:rPr>
              <a:t>7,906 real satellites, SGP4 in-browser, verified 0.3 km vs live ISS telemetry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172200" y="5888736"/>
            <a:ext cx="553212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E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6327648" y="5989320"/>
            <a:ext cx="192024" cy="192024"/>
          </a:xfrm>
          <a:prstGeom prst="ellipse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327648" y="6012179"/>
            <a:ext cx="19202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01968" y="5925312"/>
            <a:ext cx="49377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1" i="0">
                <a:solidFill>
                  <a:srgbClr val="1A1A1A"/>
                </a:solidFill>
                <a:latin typeface="Arial"/>
              </a:rPr>
              <a:t>Bilingual onboarding built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01968" y="6089903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720" b="0" i="0">
                <a:solidFill>
                  <a:srgbClr val="2B2B2B"/>
                </a:solidFill>
                <a:latin typeface="Arial"/>
              </a:rPr>
              <a:t>6 steps Tamil + English, GPS land walking, sea-zone picker, multi-location 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